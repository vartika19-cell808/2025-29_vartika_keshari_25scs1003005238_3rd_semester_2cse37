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5029200" cy="5029200"/>
          </a:xfrm>
          <a:prstGeom prst="ellipse">
            <a:avLst/>
          </a:prstGeom>
          <a:solidFill>
            <a:srgbClr val="1D3A6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1D3A6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 REPORT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Gen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Infosys Springboard Certification Program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4343400"/>
            <a:ext cx="1920240" cy="0"/>
          </a:xfrm>
          <a:prstGeom prst="line">
            <a:avLst/>
          </a:prstGeom>
          <a:noFill/>
          <a:ln w="31750">
            <a:solidFill>
              <a:srgbClr val="F479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Vartika Keshari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25SCS1003005238  |  IILM University, Greater Noida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029200" cy="5029200"/>
          </a:xfrm>
          <a:prstGeom prst="ellipse">
            <a:avLst/>
          </a:prstGeom>
          <a:solidFill>
            <a:srgbClr val="1D3A6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D3A66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188720"/>
            <a:ext cx="1188720" cy="11887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5" name="Image 0" descr="/home/claude/proj/icon_i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387" y="1497787"/>
            <a:ext cx="570586" cy="5705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2606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Vartika</a:t>
            </a:r>
            <a:endParaRPr lang="en-US" sz="27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Keshari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LEARNER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8686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480560" y="1874520"/>
            <a:ext cx="566928" cy="566928"/>
          </a:xfrm>
          <a:prstGeom prst="ellipse">
            <a:avLst/>
          </a:prstGeom>
          <a:solidFill>
            <a:srgbClr val="1D3A66"/>
          </a:solidFill>
          <a:ln/>
        </p:spPr>
      </p:sp>
      <p:pic>
        <p:nvPicPr>
          <p:cNvPr id="11" name="Image 1" descr="/home/claude/proj/icon_i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961" y="20219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874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257800" y="21305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25SCS1003005238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480560" y="2715768"/>
            <a:ext cx="566928" cy="566928"/>
          </a:xfrm>
          <a:prstGeom prst="ellipse">
            <a:avLst/>
          </a:prstGeom>
          <a:solidFill>
            <a:srgbClr val="1D3A66"/>
          </a:solidFill>
          <a:ln/>
        </p:spPr>
      </p:sp>
      <p:pic>
        <p:nvPicPr>
          <p:cNvPr id="15" name="Image 2" descr="/home/claude/proj/icon_univers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961" y="2863169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57800" y="27157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5257800" y="297180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480560" y="3557016"/>
            <a:ext cx="566928" cy="566928"/>
          </a:xfrm>
          <a:prstGeom prst="ellipse">
            <a:avLst/>
          </a:prstGeom>
          <a:solidFill>
            <a:srgbClr val="1D3A66"/>
          </a:solidFill>
          <a:ln/>
        </p:spPr>
      </p:sp>
      <p:pic>
        <p:nvPicPr>
          <p:cNvPr id="19" name="Image 3" descr="/home/claude/proj/icon_gradc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961" y="3704417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257800" y="355701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257800" y="38130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480560" y="4398264"/>
            <a:ext cx="566928" cy="566928"/>
          </a:xfrm>
          <a:prstGeom prst="ellipse">
            <a:avLst/>
          </a:prstGeom>
          <a:solidFill>
            <a:srgbClr val="1D3A66"/>
          </a:solidFill>
          <a:ln/>
        </p:spPr>
      </p:sp>
      <p:pic>
        <p:nvPicPr>
          <p:cNvPr id="23" name="Image 4" descr="/home/claude/proj/icon_bulls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7961" y="4545665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257800" y="43982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5257800" y="465429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 Technologies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4480560" y="5239512"/>
            <a:ext cx="566928" cy="566928"/>
          </a:xfrm>
          <a:prstGeom prst="ellipse">
            <a:avLst/>
          </a:prstGeom>
          <a:solidFill>
            <a:srgbClr val="1D3A66"/>
          </a:solidFill>
          <a:ln/>
        </p:spPr>
      </p:sp>
      <p:pic>
        <p:nvPicPr>
          <p:cNvPr id="27" name="Image 5" descr="/home/claude/proj/icon_calend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7961" y="5386913"/>
            <a:ext cx="272125" cy="27212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257800" y="5239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COMPLETION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5257800" y="549554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— September 8, 2026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Springboard &amp; Infosys Limited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is Infosys’ flagship digital learning platform, powered by Infosys Wingspan, offering free access to courses spanning digital, emerging-technology, and life skills. Learners who complete a course and clear its assessment receive a Course Completion Certificate issued by Infosys Limited, verifiable online through the Wingspan verification portal.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BA7BD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97380" y="3108960"/>
            <a:ext cx="822960" cy="8229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7" name="Image 0" descr="/home/claude/proj/icon_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1350" y="33229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&amp; Accessible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17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Zero-cost, industry-relevant courses open to students, graduates and professionals.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27432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BA7BD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92140" y="3108960"/>
            <a:ext cx="822960" cy="8229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2" name="Image 1" descr="/home/claude/proj/icon_lay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110" y="33229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Curriculum-Rich Platform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617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spans digital and emerging technologies, delivered on any device.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27432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BA7BD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486900" y="3108960"/>
            <a:ext cx="822960" cy="8229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7" name="Image 2" descr="/home/claude/proj/icon_c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870" y="332293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Certification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461772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certificate carries a unique ID, verifiable at verify.onwingspan.com.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RATIONALE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Next Gen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BA7BD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fields such as Artificial Intelligence, Cloud Computing, IoT, Blockchain and Cybersecurity are reshaping every industry, yet most academic curricula cover them only at a conceptual level. The Next Gen Technologies course was designed to close that gap — giving learners a structured, self-paced introduction to the technologies driving digital transformation today.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guided learning across the emerging-technology stack: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51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081528" y="4114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92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83280" y="37490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6616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4251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916168" y="4114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920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37490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251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50808" y="41148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7920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3749040"/>
            <a:ext cx="2514600" cy="1280160"/>
          </a:xfrm>
          <a:prstGeom prst="roundRect">
            <a:avLst>
              <a:gd name="adj" fmla="val 5714"/>
            </a:avLst>
          </a:prstGeom>
          <a:solidFill>
            <a:srgbClr val="1329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35440" y="38587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4251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Course Set Out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/home/claude/proj/icon_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Concepts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first-principles understanding of emerging technology domains and their real-world relevance.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373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1" name="Image 1" descr="/home/claude/proj/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Machine Learning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core AI/ML concepts, use cases and how intelligent systems are built.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73736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/home/claude/proj/icon_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18800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377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6791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cloud service models and how modern infrastructure is deployed and scaled.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2918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1" name="Image 3" descr="/home/claude/proj/icon_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6630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&amp; Automation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462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connected devices sense, process and exchange data across networks.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2918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52044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6" name="Image 4" descr="/home/claude/proj/icon_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366308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Basics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462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 distributed-ledger principles and their impact on trust and transactions.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2918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520440"/>
            <a:ext cx="548640" cy="54864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31" name="Image 5" descr="/home/claude/proj/icon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366308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160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Awareness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462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common digital threats and the fundamentals of staying secure online.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DOMAINS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Emerging-Tech Landscape Explored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828800"/>
            <a:ext cx="731520" cy="7315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/home/claude/proj/icon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815" y="20189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821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applications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182880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pic>
        <p:nvPicPr>
          <p:cNvPr id="11" name="Image 1" descr="/home/claude/proj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455" y="20189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31821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data-driven models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0900" y="1828800"/>
            <a:ext cx="731520" cy="7315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6" name="Image 2" descr="/home/claude/proj/icon_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095" y="201899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31821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scalability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5256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35540" y="182880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pic>
        <p:nvPicPr>
          <p:cNvPr id="21" name="Image 3" descr="/home/claude/proj/icon_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35" y="201899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8972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of Things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189720" y="31821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devices &amp; sensors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531620" y="4160520"/>
            <a:ext cx="731520" cy="7315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6" name="Image 4" descr="/home/claude/proj/icon_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1815" y="4350715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85800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685800" y="5513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ledgers &amp; trust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8328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366260" y="416052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pic>
        <p:nvPicPr>
          <p:cNvPr id="31" name="Image 5" descr="/home/claude/proj/icon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455" y="4350715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3520440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3520440" y="5513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threats &amp; defence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1792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200900" y="4160520"/>
            <a:ext cx="731520" cy="73152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36" name="Image 6" descr="/home/claude/proj/icon_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1095" y="4350715"/>
            <a:ext cx="351130" cy="35113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355080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6355080" y="5513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visualisation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5256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035540" y="4160520"/>
            <a:ext cx="731520" cy="731520"/>
          </a:xfrm>
          <a:prstGeom prst="ellipse">
            <a:avLst/>
          </a:prstGeom>
          <a:solidFill>
            <a:srgbClr val="F47920"/>
          </a:solidFill>
          <a:ln/>
        </p:spPr>
      </p:sp>
      <p:pic>
        <p:nvPicPr>
          <p:cNvPr id="41" name="Image 7" descr="/home/claude/proj/icon_ge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5735" y="4350715"/>
            <a:ext cx="351130" cy="35113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189720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9189720" y="5513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workflow efficiency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PATHWAY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Foundations to Certification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804672"/>
          </a:xfrm>
          <a:prstGeom prst="roundRect">
            <a:avLst>
              <a:gd name="adj" fmla="val 6818"/>
            </a:avLst>
          </a:prstGeom>
          <a:solidFill>
            <a:srgbClr val="1D3A6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/home/claude/proj/icon_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817" y="1833921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54480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Modules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554480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across emerging technology domains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35915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920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432304"/>
            <a:ext cx="10881360" cy="804672"/>
          </a:xfrm>
          <a:prstGeom prst="roundRect">
            <a:avLst>
              <a:gd name="adj" fmla="val 6818"/>
            </a:avLst>
          </a:prstGeom>
          <a:solidFill>
            <a:srgbClr val="1D3A66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" y="2578608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2" name="Image 1" descr="/home/claude/proj/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17" y="271174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243230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Learning Content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2432304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readings and interactive lessons per module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323697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920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310128"/>
            <a:ext cx="10881360" cy="804672"/>
          </a:xfrm>
          <a:prstGeom prst="roundRect">
            <a:avLst>
              <a:gd name="adj" fmla="val 6818"/>
            </a:avLst>
          </a:prstGeom>
          <a:solidFill>
            <a:srgbClr val="1D3A66"/>
          </a:solidFill>
          <a:ln/>
        </p:spPr>
      </p:sp>
      <p:sp>
        <p:nvSpPr>
          <p:cNvPr id="17" name="Shape 13"/>
          <p:cNvSpPr/>
          <p:nvPr/>
        </p:nvSpPr>
        <p:spPr>
          <a:xfrm>
            <a:off x="868680" y="3456432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8" name="Image 2" descr="/home/claude/proj/icon_g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17" y="3589569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0200" y="331012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Quizzes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5029200" y="3310128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assessments to reinforce concepts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960120" y="411480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920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187952"/>
            <a:ext cx="10881360" cy="804672"/>
          </a:xfrm>
          <a:prstGeom prst="roundRect">
            <a:avLst>
              <a:gd name="adj" fmla="val 6818"/>
            </a:avLst>
          </a:prstGeom>
          <a:solidFill>
            <a:srgbClr val="1D3A66"/>
          </a:solidFill>
          <a:ln/>
        </p:spPr>
      </p:sp>
      <p:sp>
        <p:nvSpPr>
          <p:cNvPr id="23" name="Shape 18"/>
          <p:cNvSpPr/>
          <p:nvPr/>
        </p:nvSpPr>
        <p:spPr>
          <a:xfrm>
            <a:off x="868680" y="4334256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4" name="Image 3" descr="/home/claude/proj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17" y="4467393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00200" y="418795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5029200" y="4187952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evaluation of course learning outcomes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960120" y="4992624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7920"/>
                </a:solidFill>
              </a:rPr>
              <a:t>↓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5065776"/>
            <a:ext cx="10881360" cy="804672"/>
          </a:xfrm>
          <a:prstGeom prst="roundRect">
            <a:avLst>
              <a:gd name="adj" fmla="val 6818"/>
            </a:avLst>
          </a:prstGeom>
          <a:solidFill>
            <a:srgbClr val="1D3A66"/>
          </a:solidFill>
          <a:ln/>
        </p:spPr>
      </p:sp>
      <p:sp>
        <p:nvSpPr>
          <p:cNvPr id="29" name="Shape 23"/>
          <p:cNvSpPr/>
          <p:nvPr/>
        </p:nvSpPr>
        <p:spPr>
          <a:xfrm>
            <a:off x="868680" y="5212080"/>
            <a:ext cx="512064" cy="512064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30" name="Image 4" descr="/home/claude/proj/icon_c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817" y="5345217"/>
            <a:ext cx="245791" cy="24579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600200" y="5065776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5029200" y="5065776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6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 Certificate issued by Infosys Limited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STRUCTURE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Covered in the Course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4231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Emerging Tech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3580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of next-gen technologies &amp; their industry impact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73736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4231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03580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AI and intelligent systems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82512" y="24231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Basics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382512" y="303580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 and data-driven approaches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52560" y="155448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173736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35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242316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303580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models, deployment &amp; scalability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75488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of Things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536752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devices, sensors &amp; data exchange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8328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66160" y="406908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661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547872" y="475488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Technology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547872" y="536752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ledgers &amp; decentralised trust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382512" y="475488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Fundamentals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382512" y="536752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threats &amp; digital defence practices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52560" y="3886200"/>
            <a:ext cx="26974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BA7BD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35440" y="4069080"/>
            <a:ext cx="502920" cy="5029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354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9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9217152" y="4754880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Credential Assessment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9217152" y="5367528"/>
            <a:ext cx="23682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evaluation &amp; certification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Capabilities Gained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BA7BD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6" name="Image 0" descr="/home/claude/proj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37944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0020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explain core concepts across AI, Cloud, IoT, Blockchain and Cybersecurity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BA7BD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587752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0" name="Image 1" descr="/home/claude/proj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706624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46888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how emerging technologies are applied to real-world industry problems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BA7BD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456432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4" name="Image 2" descr="/home/claude/proj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57530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33756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vocabulary to engage confidently in next-gen technology discussions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2062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BA7BD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325112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18" name="Image 3" descr="/home/claude/proj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44398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420624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with the Infosys Springboard learning platform and its assessment structure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07492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9BA7BD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2" name="Image 4" descr="/home/claude/proj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312664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07492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 Course Completion Certificate issued by Infosys Limited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Completed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1D3A66"/>
          </a:solidFill>
          <a:ln/>
        </p:spPr>
      </p:sp>
      <p:pic>
        <p:nvPicPr>
          <p:cNvPr id="5" name="Image 0" descr="/home/claude/proj/icon_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20171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1305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 Technologies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715768"/>
            <a:ext cx="548640" cy="548640"/>
          </a:xfrm>
          <a:prstGeom prst="ellipse">
            <a:avLst/>
          </a:prstGeom>
          <a:solidFill>
            <a:srgbClr val="1D3A66"/>
          </a:solidFill>
          <a:ln/>
        </p:spPr>
      </p:sp>
      <p:pic>
        <p:nvPicPr>
          <p:cNvPr id="9" name="Image 1" descr="/home/claude/proj/icon_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8584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715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DATE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8, 2026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557016"/>
            <a:ext cx="548640" cy="548640"/>
          </a:xfrm>
          <a:prstGeom prst="ellipse">
            <a:avLst/>
          </a:prstGeom>
          <a:solidFill>
            <a:srgbClr val="1D3A66"/>
          </a:solidFill>
          <a:ln/>
        </p:spPr>
      </p:sp>
      <p:pic>
        <p:nvPicPr>
          <p:cNvPr id="13" name="Image 2" descr="/home/claude/proj/icon_univers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369966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3557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BY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3813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Limited, via Infosys Springboard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40080" y="4398264"/>
            <a:ext cx="548640" cy="548640"/>
          </a:xfrm>
          <a:prstGeom prst="ellipse">
            <a:avLst/>
          </a:prstGeom>
          <a:solidFill>
            <a:srgbClr val="1D3A66"/>
          </a:solidFill>
          <a:ln/>
        </p:spPr>
      </p:sp>
      <p:pic>
        <p:nvPicPr>
          <p:cNvPr id="17" name="Image 3" descr="/home/claude/proj/icon_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4540910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43982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46542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verify.onwingspan.com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989320" y="1417320"/>
            <a:ext cx="56692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/home/claude/proj/cert_img-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554480"/>
            <a:ext cx="5394960" cy="41605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• Next Gen Technologies • Vartika Keshari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5029200" cy="5029200"/>
          </a:xfrm>
          <a:prstGeom prst="ellipse">
            <a:avLst/>
          </a:prstGeom>
          <a:solidFill>
            <a:srgbClr val="1D3A66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114800" cy="4114800"/>
          </a:xfrm>
          <a:prstGeom prst="ellipse">
            <a:avLst/>
          </a:prstGeom>
          <a:solidFill>
            <a:srgbClr val="1D3A6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651760"/>
            <a:ext cx="1216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0" y="361188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6D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 Technologies  |  Infosys Springboard Certification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94960" y="4251960"/>
            <a:ext cx="1371600" cy="0"/>
          </a:xfrm>
          <a:prstGeom prst="line">
            <a:avLst/>
          </a:prstGeom>
          <a:noFill/>
          <a:ln w="31750">
            <a:solidFill>
              <a:srgbClr val="F479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4348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Vartika Keshari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0" y="48006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25SCS1003005238  | 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2026-09-10T16:17:14Z</dcterms:created>
  <dcterms:modified xsi:type="dcterms:W3CDTF">2026-09-10T16:17:14Z</dcterms:modified>
</cp:coreProperties>
</file>